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731520"/>
            <a:ext cx="3657600" cy="3657600"/>
          </a:xfrm>
          <a:prstGeom prst="ellipse">
            <a:avLst/>
          </a:prstGeom>
          <a:solidFill>
            <a:srgbClr val="12284B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58200" y="1207008"/>
            <a:ext cx="777240" cy="77724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58200" y="1207008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UI</a:t>
            </a:r>
          </a:p>
        </p:txBody>
      </p:sp>
      <p:sp>
        <p:nvSpPr>
          <p:cNvPr id="7" name="Oval 6"/>
          <p:cNvSpPr/>
          <p:nvPr/>
        </p:nvSpPr>
        <p:spPr>
          <a:xfrm>
            <a:off x="9921240" y="960120"/>
            <a:ext cx="960120" cy="9601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21240" y="96012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SEC</a:t>
            </a:r>
          </a:p>
        </p:txBody>
      </p:sp>
      <p:sp>
        <p:nvSpPr>
          <p:cNvPr id="9" name="Oval 8"/>
          <p:cNvSpPr/>
          <p:nvPr/>
        </p:nvSpPr>
        <p:spPr>
          <a:xfrm>
            <a:off x="10195560" y="2487168"/>
            <a:ext cx="777240" cy="7772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95560" y="2487168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DB</a:t>
            </a:r>
          </a:p>
        </p:txBody>
      </p:sp>
      <p:sp>
        <p:nvSpPr>
          <p:cNvPr id="11" name="Oval 10"/>
          <p:cNvSpPr/>
          <p:nvPr/>
        </p:nvSpPr>
        <p:spPr>
          <a:xfrm>
            <a:off x="8549640" y="2971800"/>
            <a:ext cx="914400" cy="91440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297180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API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189720" y="1417320"/>
            <a:ext cx="731520" cy="164592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78440" y="1874519"/>
            <a:ext cx="182880" cy="612649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464040" y="2907792"/>
            <a:ext cx="731520" cy="36576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87968" y="1965960"/>
            <a:ext cx="27432" cy="100584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1143000"/>
            <a:ext cx="1417320" cy="38404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1143000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ÚLTIMO 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755648"/>
            <a:ext cx="69494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ptos"/>
              </a:rPr>
              <a:t>Do formulário
à aplicação segura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7040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Aptos"/>
              </a:rPr>
              <a:t>Validação • DTO • Exceções • Security •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15968"/>
            <a:ext cx="5852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Aptos"/>
              </a:rPr>
              <a:t>Uma aula guiada por demonstrações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8932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Projeto Cardápio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Diego Alves • Aula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48156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481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RETROSPECTIVA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A jornada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828800"/>
            <a:ext cx="658368" cy="65836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651760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MVC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3063240"/>
            <a:ext cx="1417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Controller + Thymeleaf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157984"/>
            <a:ext cx="1453896" cy="0"/>
          </a:xfrm>
          <a:prstGeom prst="line">
            <a:avLst/>
          </a:prstGeom>
          <a:ln w="381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62072" y="1828800"/>
            <a:ext cx="658368" cy="65836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62072" y="182880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2651760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Banco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063240"/>
            <a:ext cx="1417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JPA + MySQL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47872" y="2157984"/>
            <a:ext cx="1453896" cy="0"/>
          </a:xfrm>
          <a:prstGeom prst="line">
            <a:avLst/>
          </a:prstGeom>
          <a:ln w="381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9783" y="1828800"/>
            <a:ext cx="658368" cy="658368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3" y="182880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0055" y="2651760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3063240"/>
            <a:ext cx="1417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Incluir • Alterar • Excluir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15583" y="2157984"/>
            <a:ext cx="1453896" cy="0"/>
          </a:xfrm>
          <a:prstGeom prst="line">
            <a:avLst/>
          </a:prstGeom>
          <a:ln w="381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97496" y="1828800"/>
            <a:ext cx="658368" cy="65836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97496" y="182880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2651760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3063240"/>
            <a:ext cx="1417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BCrypt + sessão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83296" y="2157984"/>
            <a:ext cx="1453896" cy="0"/>
          </a:xfrm>
          <a:prstGeom prst="line">
            <a:avLst/>
          </a:prstGeom>
          <a:ln w="381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665208" y="1828800"/>
            <a:ext cx="658368" cy="65836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65208" y="182880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651760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Hoje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3063240"/>
            <a:ext cx="1417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Defesa em camadas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4572000"/>
            <a:ext cx="9875520" cy="804672"/>
          </a:xfrm>
          <a:prstGeom prst="roundRect">
            <a:avLst/>
          </a:prstGeom>
          <a:solidFill>
            <a:srgbClr val="10213A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17320" y="4681728"/>
            <a:ext cx="9326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2D3EE"/>
                </a:solidFill>
                <a:latin typeface="Aptos"/>
              </a:rPr>
              <a:t>Meta de hoje: transformar o CRUD funcional em uma aplicação que resiste a dados inválidos.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Podemos confiar no navegador?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4251960" cy="40690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4069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728216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282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55063"/>
            <a:ext cx="3200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O que o usuário vê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22576"/>
            <a:ext cx="3739896" cy="3282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94A3B8"/>
                </a:solidFill>
                <a:latin typeface="Aptos"/>
              </a:rPr>
              <a:t>Campo 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obrigatório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
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Preço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mínimo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
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Botão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Salvar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
Modal 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amigável</a:t>
            </a:r>
            <a:endParaRPr sz="1500" b="0" dirty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96912" y="1508760"/>
            <a:ext cx="4251960" cy="40690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96912" y="1508760"/>
            <a:ext cx="64008" cy="40690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525512" y="1728216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5512" y="17282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655063"/>
            <a:ext cx="3200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O que ele pode fazer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2228741"/>
            <a:ext cx="3739896" cy="3282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 err="1">
                <a:solidFill>
                  <a:srgbClr val="94A3B8"/>
                </a:solidFill>
                <a:latin typeface="Aptos"/>
              </a:rPr>
              <a:t>Desativar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JavaScript
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Alterar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o HTML
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Montar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outro POST
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Modificar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valores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no console</a:t>
            </a:r>
          </a:p>
        </p:txBody>
      </p:sp>
      <p:sp>
        <p:nvSpPr>
          <p:cNvPr id="19" name="Oval 18"/>
          <p:cNvSpPr/>
          <p:nvPr/>
        </p:nvSpPr>
        <p:spPr>
          <a:xfrm>
            <a:off x="5404104" y="2487168"/>
            <a:ext cx="1371600" cy="137160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4104" y="2487168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8FAFC"/>
                </a:solidFill>
                <a:latin typeface="Apto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078224"/>
            <a:ext cx="221284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BBF24"/>
                </a:solidFill>
                <a:latin typeface="Aptos"/>
              </a:rPr>
              <a:t>O navegador está
fora do nosso controle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LIVE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Demonstração: duas tentativas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11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2C55E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1732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Envio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4800600" cy="2148840"/>
          </a:xfrm>
          <a:prstGeom prst="roundRect">
            <a:avLst/>
          </a:prstGeom>
          <a:solidFill>
            <a:srgbClr val="07101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21488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2167128"/>
            <a:ext cx="4416552" cy="1929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scadia Code"/>
              </a:rPr>
              <a:t>preço = -10
submit → JavaScript
       → modal
       → envio cancelado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4160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Aptos"/>
              </a:rPr>
              <a:t>Validação de experiência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411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EF444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4173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Requisição adulterada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057400"/>
            <a:ext cx="4800600" cy="2148840"/>
          </a:xfrm>
          <a:prstGeom prst="roundRect">
            <a:avLst/>
          </a:prstGeom>
          <a:solidFill>
            <a:srgbClr val="07101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2057400"/>
            <a:ext cx="64008" cy="21488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65976" y="2167128"/>
            <a:ext cx="4416552" cy="1929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scadia Code"/>
              </a:rPr>
              <a:t>preco.value = "-10";
form.submit();
JavaScript ignorado
backend → erro.html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443984"/>
            <a:ext cx="4160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F4444"/>
                </a:solidFill>
                <a:latin typeface="Aptos"/>
              </a:rPr>
              <a:t>Validação de segurança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5230368"/>
            <a:ext cx="5897880" cy="566928"/>
          </a:xfrm>
          <a:prstGeom prst="roundRect">
            <a:avLst/>
          </a:prstGeom>
          <a:solidFill>
            <a:srgbClr val="2B1D0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37560" y="5303520"/>
            <a:ext cx="5532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Isto é manipulação da requisição — não SQL Injection.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9651" y="338438"/>
            <a:ext cx="130812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8FAFC"/>
                </a:solidFill>
                <a:latin typeface="Aptos"/>
              </a:rPr>
              <a:t>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Defesa em camadas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1405335"/>
            <a:ext cx="5029200" cy="82296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4127" y="1451055"/>
            <a:ext cx="4663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220"/>
                </a:solidFill>
                <a:latin typeface="Aptos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4127" y="1780239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B1220"/>
                </a:solidFill>
                <a:latin typeface="Aptos"/>
              </a:rPr>
              <a:t>feedback imediato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5607" y="1999695"/>
            <a:ext cx="384048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58487" y="2045415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220"/>
                </a:solidFill>
                <a:latin typeface="Aptos"/>
              </a:rPr>
              <a:t>DTO + @Valid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487" y="2374599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B1220"/>
                </a:solidFill>
                <a:latin typeface="Aptos"/>
              </a:rPr>
              <a:t>contrato de entrada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9967" y="2594055"/>
            <a:ext cx="2651760" cy="8229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2847" y="263977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220"/>
                </a:solidFill>
                <a:latin typeface="Aptos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2847" y="2968959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B1220"/>
                </a:solidFill>
                <a:latin typeface="Aptos"/>
              </a:rPr>
              <a:t>regra de negócio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4327" y="3188415"/>
            <a:ext cx="1463040" cy="82296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47207" y="3234134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B1220"/>
                </a:solidFill>
                <a:latin typeface="Aptos"/>
              </a:rPr>
              <a:t>Banco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7207" y="3563319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B1220"/>
                </a:solidFill>
                <a:latin typeface="Aptos"/>
              </a:rPr>
              <a:t>integridade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929259"/>
            <a:ext cx="4160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F8FAFC"/>
                </a:solidFill>
                <a:latin typeface="Aptos"/>
              </a:rPr>
              <a:t>Se </a:t>
            </a:r>
            <a:r>
              <a:rPr sz="2400" b="1" dirty="0" err="1">
                <a:solidFill>
                  <a:srgbClr val="F8FAFC"/>
                </a:solidFill>
                <a:latin typeface="Aptos"/>
              </a:rPr>
              <a:t>uma</a:t>
            </a:r>
            <a:r>
              <a:rPr sz="2400" b="1" dirty="0">
                <a:solidFill>
                  <a:srgbClr val="F8FAFC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F8FAFC"/>
                </a:solidFill>
                <a:latin typeface="Aptos"/>
              </a:rPr>
              <a:t>camada</a:t>
            </a:r>
            <a:r>
              <a:rPr sz="2400" b="1" dirty="0">
                <a:solidFill>
                  <a:srgbClr val="F8FAFC"/>
                </a:solidFill>
                <a:latin typeface="Aptos"/>
              </a:rPr>
              <a:t> for </a:t>
            </a:r>
            <a:r>
              <a:rPr sz="2400" b="1" dirty="0" err="1">
                <a:solidFill>
                  <a:srgbClr val="F8FAFC"/>
                </a:solidFill>
                <a:latin typeface="Aptos"/>
              </a:rPr>
              <a:t>contornada</a:t>
            </a:r>
            <a:r>
              <a:rPr sz="2400" b="1" dirty="0">
                <a:solidFill>
                  <a:srgbClr val="F8FAFC"/>
                </a:solidFill>
                <a:latin typeface="Aptos"/>
              </a:rPr>
              <a:t>, a </a:t>
            </a:r>
            <a:r>
              <a:rPr sz="2400" b="1" dirty="0" err="1">
                <a:solidFill>
                  <a:srgbClr val="F8FAFC"/>
                </a:solidFill>
                <a:latin typeface="Aptos"/>
              </a:rPr>
              <a:t>próxima</a:t>
            </a:r>
            <a:r>
              <a:rPr sz="2400" b="1" dirty="0">
                <a:solidFill>
                  <a:srgbClr val="F8FAFC"/>
                </a:solidFill>
                <a:latin typeface="Aptos"/>
              </a:rPr>
              <a:t> continua </a:t>
            </a:r>
            <a:r>
              <a:rPr sz="2400" b="1" dirty="0" err="1">
                <a:solidFill>
                  <a:srgbClr val="F8FAFC"/>
                </a:solidFill>
                <a:latin typeface="Aptos"/>
              </a:rPr>
              <a:t>protegendo</a:t>
            </a:r>
            <a:r>
              <a:rPr sz="2400" b="1" dirty="0">
                <a:solidFill>
                  <a:srgbClr val="F8FAFC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255139"/>
            <a:ext cx="397763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Aptos"/>
              </a:rPr>
              <a:t>JS não substitui Java.
Java não substitui o banco.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DTO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DTO não é entidade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743200" cy="3337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" cy="33375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773936"/>
            <a:ext cx="512064" cy="512064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7393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700784"/>
            <a:ext cx="16916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Tela / requisição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07624"/>
            <a:ext cx="2231136" cy="2551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 err="1">
                <a:solidFill>
                  <a:srgbClr val="94A3B8"/>
                </a:solidFill>
                <a:latin typeface="Aptos"/>
              </a:rPr>
              <a:t>nome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
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descrição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
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preço</a:t>
            </a:r>
            <a:endParaRPr sz="1500" b="0" dirty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09160" y="1554480"/>
            <a:ext cx="2743200" cy="3337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1554480"/>
            <a:ext cx="64008" cy="3337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37760" y="1773936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177393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700784"/>
            <a:ext cx="16916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ItemCardapioDTO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407624"/>
            <a:ext cx="2231136" cy="2551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 err="1">
                <a:solidFill>
                  <a:srgbClr val="94A3B8"/>
                </a:solidFill>
                <a:latin typeface="Aptos"/>
              </a:rPr>
              <a:t>Somente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os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campos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permitidos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
@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NotBlank</a:t>
            </a:r>
            <a:r>
              <a:rPr sz="1500" b="0" dirty="0">
                <a:solidFill>
                  <a:srgbClr val="94A3B8"/>
                </a:solidFill>
                <a:latin typeface="Aptos"/>
              </a:rPr>
              <a:t>
@</a:t>
            </a:r>
            <a:r>
              <a:rPr sz="1500" b="0" dirty="0" err="1">
                <a:solidFill>
                  <a:srgbClr val="94A3B8"/>
                </a:solidFill>
                <a:latin typeface="Aptos"/>
              </a:rPr>
              <a:t>DecimalMin</a:t>
            </a:r>
            <a:endParaRPr sz="1500" b="0" dirty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778240" y="1554480"/>
            <a:ext cx="2743200" cy="3337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78240" y="1554480"/>
            <a:ext cx="64008" cy="33375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006840" y="1773936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6840" y="177393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9" y="1700784"/>
            <a:ext cx="1691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Entidade JPA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407624"/>
            <a:ext cx="2231136" cy="2551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id
nome
descrição
preço
incluidoPor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29000" y="2880360"/>
            <a:ext cx="1188720" cy="0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98079" y="2880360"/>
            <a:ext cx="1188721" cy="0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353312" y="5230368"/>
            <a:ext cx="132588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53312" y="5230368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ENTRADA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8384" y="5230368"/>
            <a:ext cx="14173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58384" y="5230368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CONTRATO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5480" y="5230368"/>
            <a:ext cx="118872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55480" y="5230368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BANCO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EXCEÇÕES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Uma saída única para os erros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51460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64008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63624"/>
            <a:ext cx="207568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Validação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200253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mensagem controlada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47088" y="2880360"/>
            <a:ext cx="4242816" cy="82296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29000" y="1417320"/>
            <a:ext cx="251460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417320"/>
            <a:ext cx="64008" cy="141732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563624"/>
            <a:ext cx="207568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Item ausente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057400"/>
            <a:ext cx="200253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mensagem do domínio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81728" y="2880360"/>
            <a:ext cx="1408176" cy="82296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1417320"/>
            <a:ext cx="251460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64008" cy="141732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1563624"/>
            <a:ext cx="207568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Banco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057400"/>
            <a:ext cx="200253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mensagem genérica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89904" y="2880360"/>
            <a:ext cx="1426463" cy="82296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98280" y="1417320"/>
            <a:ext cx="251460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8280" y="1417320"/>
            <a:ext cx="64008" cy="14173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54311" y="1563624"/>
            <a:ext cx="20756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Inesperado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1" y="2057400"/>
            <a:ext cx="200253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mensagem genérica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089904" y="2880360"/>
            <a:ext cx="4261104" cy="82296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160520" y="3657600"/>
            <a:ext cx="3867912" cy="960120"/>
          </a:xfrm>
          <a:prstGeom prst="roundRect">
            <a:avLst/>
          </a:prstGeom>
          <a:solidFill>
            <a:srgbClr val="10213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3400" y="3767328"/>
            <a:ext cx="35021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Aptos"/>
              </a:rPr>
              <a:t>@ControllerAdvice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114800"/>
            <a:ext cx="35021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escolhe a mensagem segura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4645152"/>
            <a:ext cx="0" cy="521208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09160" y="5166360"/>
            <a:ext cx="2770632" cy="658368"/>
          </a:xfrm>
          <a:prstGeom prst="roundRect">
            <a:avLst/>
          </a:prstGeom>
          <a:solidFill>
            <a:srgbClr val="3414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5257800"/>
            <a:ext cx="24048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erro.html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44018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4401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SPRING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Security limpa os controllers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61872"/>
            <a:ext cx="1097280" cy="38404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343400" cy="1874519"/>
          </a:xfrm>
          <a:prstGeom prst="roundRect">
            <a:avLst/>
          </a:prstGeom>
          <a:solidFill>
            <a:srgbClr val="07101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64008" cy="1874519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938528"/>
            <a:ext cx="3959352" cy="1655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scadia Code"/>
              </a:rPr>
              <a:t>if (session.getAttribute(
    "usuarioId") == null) {
    return "redirect:/";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3703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F4444"/>
                </a:solidFill>
                <a:latin typeface="Aptos"/>
              </a:rPr>
              <a:t>Repetido em cada método</a:t>
            </a:r>
          </a:p>
        </p:txBody>
      </p:sp>
      <p:sp>
        <p:nvSpPr>
          <p:cNvPr id="13" name="Oval 12"/>
          <p:cNvSpPr/>
          <p:nvPr/>
        </p:nvSpPr>
        <p:spPr>
          <a:xfrm>
            <a:off x="5532120" y="2331720"/>
            <a:ext cx="1097280" cy="10972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2120" y="2331720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261872"/>
            <a:ext cx="123444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1261872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DEPOIS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828800"/>
            <a:ext cx="4343400" cy="1874519"/>
          </a:xfrm>
          <a:prstGeom prst="roundRect">
            <a:avLst/>
          </a:prstGeom>
          <a:solidFill>
            <a:srgbClr val="07101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1828800"/>
            <a:ext cx="64008" cy="1874519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51775" y="1938528"/>
            <a:ext cx="3959352" cy="1655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scadia Code"/>
              </a:rPr>
              <a:t>@GetMapping("/home")
public String mostrarHome(
    Authentication auth, Model model) {
    ...
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977639"/>
            <a:ext cx="3886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Aptos"/>
              </a:rPr>
              <a:t>O filtro barra antes do controller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4956048"/>
            <a:ext cx="7360920" cy="694944"/>
          </a:xfrm>
          <a:prstGeom prst="roundRect">
            <a:avLst/>
          </a:prstGeom>
          <a:solidFill>
            <a:srgbClr val="10213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5074920"/>
            <a:ext cx="6903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Autenticação centralizada → menos repetição → menor chance de esquecer uma rota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44018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4401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SPRING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O novo fluxo de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74519"/>
            <a:ext cx="19659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1965960" cy="9144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578608"/>
            <a:ext cx="1673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tos"/>
              </a:rPr>
              <a:t>usuario + senha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5728" y="2578608"/>
            <a:ext cx="347472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07208" y="1874519"/>
            <a:ext cx="19659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07208" y="1874519"/>
            <a:ext cx="196596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44368" y="213969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Filtro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578608"/>
            <a:ext cx="1673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tos"/>
              </a:rPr>
              <a:t>intercepta /login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91456" y="2578608"/>
            <a:ext cx="34747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02936" y="1874519"/>
            <a:ext cx="19659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02936" y="1874519"/>
            <a:ext cx="1965960" cy="9144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0096" y="213969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578608"/>
            <a:ext cx="1673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tos"/>
              </a:rPr>
              <a:t>busca por login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87184" y="2578608"/>
            <a:ext cx="347472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98664" y="1874519"/>
            <a:ext cx="19659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98664" y="1874519"/>
            <a:ext cx="1965960" cy="9144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35824" y="213969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BCrypt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578608"/>
            <a:ext cx="1673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tos"/>
              </a:rPr>
              <a:t>matches(senha, hash)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82912" y="2578608"/>
            <a:ext cx="347472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994392" y="1874519"/>
            <a:ext cx="1965960" cy="1417320"/>
          </a:xfrm>
          <a:prstGeom prst="roundRect">
            <a:avLst/>
          </a:prstGeom>
          <a:solidFill>
            <a:srgbClr val="172033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94392" y="1874519"/>
            <a:ext cx="1965960" cy="9144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31552" y="213969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0696" y="2578608"/>
            <a:ext cx="1673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tos"/>
              </a:rPr>
              <a:t>usuário autenticado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4133087"/>
            <a:ext cx="4800600" cy="987552"/>
          </a:xfrm>
          <a:prstGeom prst="roundRect">
            <a:avLst/>
          </a:prstGeom>
          <a:solidFill>
            <a:srgbClr val="07101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703320" y="4133087"/>
            <a:ext cx="64008" cy="9875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22776" y="4242816"/>
            <a:ext cx="4416552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scadia Code"/>
              </a:rPr>
              <a:t>Authentication authentication
authentication.getName()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376672"/>
            <a:ext cx="5623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Aptos"/>
              </a:rPr>
              <a:t>O ID deixa de circular pelo formulário e pelos controllers.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48156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2481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SEGURANÇA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CSRF: o selo secreto do formulário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108960" cy="228600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22860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1728216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7282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55063"/>
            <a:ext cx="2057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Site legítimo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48839"/>
            <a:ext cx="2596896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Formulário Thymeleaf
+ token CSRF correto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1865376"/>
            <a:ext cx="1965960" cy="19659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1865376"/>
            <a:ext cx="196596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08760"/>
            <a:ext cx="3108960" cy="228600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508760"/>
            <a:ext cx="64008" cy="2286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49640" y="1728216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7282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1655063"/>
            <a:ext cx="2057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Servidor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148839"/>
            <a:ext cx="2596896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Compara o token
Aceita ou rejeita o POST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58768" y="2651760"/>
            <a:ext cx="1188720" cy="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59168" y="2651760"/>
            <a:ext cx="1216152" cy="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4251960"/>
            <a:ext cx="3108960" cy="132588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251960"/>
            <a:ext cx="64008" cy="13258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0120" y="4471416"/>
            <a:ext cx="512064" cy="51206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471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398264"/>
            <a:ext cx="2057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Outro 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892040"/>
            <a:ext cx="2596896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Tenta forjar o POST
sem o token correto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858768" y="3840480"/>
            <a:ext cx="1124712" cy="1051560"/>
          </a:xfrm>
          <a:prstGeom prst="line">
            <a:avLst/>
          </a:prstGeom>
          <a:ln w="381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Hexagon 29"/>
          <p:cNvSpPr/>
          <p:nvPr/>
        </p:nvSpPr>
        <p:spPr>
          <a:xfrm>
            <a:off x="5102352" y="3721608"/>
            <a:ext cx="1691640" cy="1554480"/>
          </a:xfrm>
          <a:prstGeom prst="hexagon">
            <a:avLst/>
          </a:prstGeom>
          <a:solidFill>
            <a:srgbClr val="351515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30952" y="4087368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Aptos"/>
              </a:rPr>
              <a:t>403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343400"/>
            <a:ext cx="3794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Aptos"/>
              </a:rPr>
              <a:t>CSRF protege a origem do POST. Não valida nome, preço ou permissão de negócio.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MVC e REST: duas portas, um serviço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108960" cy="3337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4008" cy="33375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636776"/>
            <a:ext cx="512064" cy="512064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3677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563624"/>
            <a:ext cx="2057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CardapioController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57400"/>
            <a:ext cx="2596896" cy="2551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@Controller
return "home"
HTML + Thymeleaf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2011680"/>
            <a:ext cx="3108960" cy="214884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5424" y="2011680"/>
            <a:ext cx="64008" cy="2148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64024" y="2231136"/>
            <a:ext cx="512064" cy="5120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23113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157984"/>
            <a:ext cx="205739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CardapioService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651760"/>
            <a:ext cx="2596896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Regras de negócio
Validação
Repository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9912" y="1417320"/>
            <a:ext cx="3108960" cy="3337560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39912" y="1417320"/>
            <a:ext cx="64008" cy="33375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68512" y="1636776"/>
            <a:ext cx="512064" cy="512064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68512" y="163677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563624"/>
            <a:ext cx="2057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CardapioRestController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2057400"/>
            <a:ext cx="2596896" cy="2551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@RestController
return DTO
JSON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2999232"/>
            <a:ext cx="694944" cy="0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90104" y="2999232"/>
            <a:ext cx="704088" cy="0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17320" y="5138928"/>
            <a:ext cx="1572768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20" y="5138928"/>
            <a:ext cx="15727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NAVEGADOR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4681728"/>
            <a:ext cx="128016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40680" y="4681728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REUSO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62872" y="5138928"/>
            <a:ext cx="1536192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872" y="5138928"/>
            <a:ext cx="15361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API / MOBILE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5504688"/>
            <a:ext cx="3383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GET /api/cardapio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Arquitetura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417320" cy="749808"/>
          </a:xfrm>
          <a:prstGeom prst="roundRect">
            <a:avLst/>
          </a:prstGeom>
          <a:solidFill>
            <a:srgbClr val="1720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2258568"/>
            <a:ext cx="127101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148840"/>
            <a:ext cx="1508760" cy="749808"/>
          </a:xfrm>
          <a:prstGeom prst="roundRect">
            <a:avLst/>
          </a:prstGeom>
          <a:solidFill>
            <a:srgbClr val="172033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96312" y="2258568"/>
            <a:ext cx="136245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43000"/>
            <a:ext cx="1600200" cy="749808"/>
          </a:xfrm>
          <a:prstGeom prst="roundRect">
            <a:avLst/>
          </a:prstGeom>
          <a:solidFill>
            <a:srgbClr val="1720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252728"/>
            <a:ext cx="145389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246120"/>
            <a:ext cx="1600200" cy="749808"/>
          </a:xfrm>
          <a:prstGeom prst="roundRect">
            <a:avLst/>
          </a:prstGeom>
          <a:solidFill>
            <a:srgbClr val="172033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3355848"/>
            <a:ext cx="145389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REST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148840"/>
            <a:ext cx="1325880" cy="749808"/>
          </a:xfrm>
          <a:prstGeom prst="roundRect">
            <a:avLst/>
          </a:prstGeom>
          <a:solidFill>
            <a:srgbClr val="172033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2" y="2258568"/>
            <a:ext cx="117957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148840"/>
            <a:ext cx="1417320" cy="749808"/>
          </a:xfrm>
          <a:prstGeom prst="roundRect">
            <a:avLst/>
          </a:prstGeom>
          <a:solidFill>
            <a:srgbClr val="17203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2258568"/>
            <a:ext cx="127101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0" y="1143000"/>
            <a:ext cx="1417320" cy="749808"/>
          </a:xfrm>
          <a:prstGeom prst="roundRect">
            <a:avLst/>
          </a:prstGeom>
          <a:solidFill>
            <a:srgbClr val="172033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60152" y="1252728"/>
            <a:ext cx="127101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Repository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0" y="3246120"/>
            <a:ext cx="1417320" cy="749808"/>
          </a:xfrm>
          <a:prstGeom prst="roundRect">
            <a:avLst/>
          </a:prstGeom>
          <a:solidFill>
            <a:srgbClr val="172033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60152" y="3355848"/>
            <a:ext cx="127101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MySQL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38528" y="2523744"/>
            <a:ext cx="438912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950208" y="1755648"/>
            <a:ext cx="438912" cy="658368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50208" y="2633472"/>
            <a:ext cx="438912" cy="950976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1572768"/>
            <a:ext cx="457200" cy="758952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80760" y="2724912"/>
            <a:ext cx="457200" cy="91440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36992" y="2523744"/>
            <a:ext cx="429768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857232" y="1691640"/>
            <a:ext cx="384048" cy="667512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991088" y="1901952"/>
            <a:ext cx="0" cy="1298448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371600" y="4892040"/>
            <a:ext cx="9464040" cy="749808"/>
          </a:xfrm>
          <a:prstGeom prst="roundRect">
            <a:avLst/>
          </a:prstGeom>
          <a:solidFill>
            <a:srgbClr val="1021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00200" y="5010912"/>
            <a:ext cx="9006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2D3EE"/>
                </a:solidFill>
                <a:latin typeface="Aptos"/>
              </a:rPr>
              <a:t>Cada camada tem uma responsabilidade — e nenhuma confia cegamente na anterior.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Condução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298448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1872" y="1545336"/>
            <a:ext cx="566928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38528" y="128016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CRUD funcionando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316736"/>
            <a:ext cx="105156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0" y="1316736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5 min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1993391"/>
            <a:ext cx="502920" cy="50292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993391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61872" y="2240279"/>
            <a:ext cx="566928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38528" y="1975103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Modal JavaScript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011679"/>
            <a:ext cx="105156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0" y="2011679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10 min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2688335"/>
            <a:ext cx="502920" cy="50292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688335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61872" y="2935223"/>
            <a:ext cx="566928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38528" y="2670047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Contornar o 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2706623"/>
            <a:ext cx="1051560" cy="38404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0" y="2706623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15 min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383279"/>
            <a:ext cx="502920" cy="50292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38327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61872" y="3630167"/>
            <a:ext cx="566928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938528" y="3364991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DTO + validação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3401567"/>
            <a:ext cx="1051560" cy="38404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3401567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25 min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4078223"/>
            <a:ext cx="502920" cy="50292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078223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61872" y="4325111"/>
            <a:ext cx="566928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38528" y="4059935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Exceções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4096511"/>
            <a:ext cx="1051560" cy="384048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0" y="4096511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20 min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" y="4773167"/>
            <a:ext cx="502920" cy="5029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773167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61872" y="5020055"/>
            <a:ext cx="566928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38528" y="4754879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Spring Security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4791455"/>
            <a:ext cx="105156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75520" y="4791455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30 min</a:t>
            </a:r>
          </a:p>
        </p:txBody>
      </p:sp>
      <p:sp>
        <p:nvSpPr>
          <p:cNvPr id="43" name="Oval 42"/>
          <p:cNvSpPr/>
          <p:nvPr/>
        </p:nvSpPr>
        <p:spPr>
          <a:xfrm>
            <a:off x="731520" y="5468111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468111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07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61872" y="5714999"/>
            <a:ext cx="566928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938528" y="5449823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REST + fechamento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5486399"/>
            <a:ext cx="105156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75520" y="5486399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220"/>
                </a:solidFill>
                <a:latin typeface="Aptos"/>
              </a:rPr>
              <a:t>20 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1874519"/>
            <a:ext cx="2148840" cy="2514600"/>
          </a:xfrm>
          <a:prstGeom prst="roundRect">
            <a:avLst/>
          </a:prstGeom>
          <a:solidFill>
            <a:srgbClr val="1021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23760" y="205740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RITMO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2542032"/>
            <a:ext cx="16002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conceito
↓
demonstração
↓
pergunta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O que eles precisam levar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10332720" cy="658368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1403604"/>
            <a:ext cx="502920" cy="50292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40360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399032"/>
            <a:ext cx="8823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O navegador não é confiável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167128"/>
            <a:ext cx="10332720" cy="658368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244852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2448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240280"/>
            <a:ext cx="8823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DTO define o contrato de entrada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08376"/>
            <a:ext cx="10332720" cy="658368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" y="3086100"/>
            <a:ext cx="502920" cy="5029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0861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081528"/>
            <a:ext cx="8823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Service protege a regra de negócio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9624"/>
            <a:ext cx="10332720" cy="658368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97280" y="3927348"/>
            <a:ext cx="502920" cy="50292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9273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922776"/>
            <a:ext cx="8823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Security protege o fluxo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90872"/>
            <a:ext cx="10332720" cy="658368"/>
          </a:xfrm>
          <a:prstGeom prst="round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4768596"/>
            <a:ext cx="502920" cy="50292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7685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764024"/>
            <a:ext cx="8823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MVC e REST podem compartilhar o núcleo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Pergunta 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53212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Se eu remover uma camada, qual ataque ou erro passa a ser possível?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Aula final • Spring Boot + Thymeleaf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508760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ENCERRAMENTO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7498079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ptos"/>
              </a:rPr>
              <a:t>Uma aplicação segura
não confia — verifica.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49039"/>
            <a:ext cx="9601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22D3EE"/>
                </a:solidFill>
                <a:latin typeface="Aptos"/>
              </a:rPr>
              <a:t>JavaScript orienta. DTO limita. Service valida. Security protege.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325880"/>
            <a:ext cx="2971800" cy="2971800"/>
          </a:xfrm>
          <a:prstGeom prst="roundRect">
            <a:avLst/>
          </a:prstGeom>
          <a:solidFill>
            <a:srgbClr val="10213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052560" y="1874519"/>
            <a:ext cx="1234440" cy="12344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874519"/>
            <a:ext cx="12344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8FAFC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246120"/>
            <a:ext cx="2240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PROJETO
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16636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BBF24"/>
                </a:solidFill>
                <a:latin typeface="Aptos"/>
              </a:rPr>
              <a:t>Perguntas?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810</Words>
  <Application>Microsoft Office PowerPoint</Application>
  <PresentationFormat>Widescreen</PresentationFormat>
  <Paragraphs>226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Cascadia Code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Diego Henrique Correa Alves</cp:lastModifiedBy>
  <cp:revision>2</cp:revision>
  <dcterms:created xsi:type="dcterms:W3CDTF">2013-01-27T09:14:16Z</dcterms:created>
  <dcterms:modified xsi:type="dcterms:W3CDTF">2026-07-23T22:23:07Z</dcterms:modified>
  <cp:category/>
</cp:coreProperties>
</file>